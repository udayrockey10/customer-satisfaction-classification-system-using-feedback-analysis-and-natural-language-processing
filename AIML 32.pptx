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Crimson Pro Medium"/>
      <p:regular r:id="rId201314"/>
    </p:embeddedFont>
    <p:embeddedFont>
      <p:font typeface="Crimson Pro ExtraBold"/>
      <p:regular r:id="rId201315"/>
    </p:embeddedFont>
    <p:embeddedFont>
      <p:font typeface="Crimson Pro Black"/>
      <p:regular r:id="rId201316"/>
    </p:embeddedFont>
    <p:embeddedFont>
      <p:font typeface="Crimson Pro ExtraLight"/>
      <p:regular r:id="rId201317"/>
    </p:embeddedFont>
    <p:embeddedFont>
      <p:font typeface="Crimson Pro Light"/>
      <p:regular r:id="rId201318"/>
    </p:embeddedFont>
    <p:embeddedFont>
      <p:font typeface="Crimson Pro"/>
      <p:regular r:id="rId201319"/>
    </p:embeddedFont>
    <p:embeddedFont>
      <p:font typeface="Crimson Pro SemiBold"/>
      <p:regular r:id="rId201320"/>
    </p:embeddedFont>
    <p:embeddedFont>
      <p:font typeface="Crimson Pro Bold"/>
      <p:regular r:id="rId201321"/>
    </p:embeddedFont>
    <p:embeddedFont>
      <p:font typeface="Open Sans Light"/>
      <p:regular r:id="rId201322"/>
    </p:embeddedFont>
    <p:embeddedFont>
      <p:font typeface="Open Sans Bold"/>
      <p:regular r:id="rId201323"/>
    </p:embeddedFont>
    <p:embeddedFont>
      <p:font typeface="Open Sans"/>
      <p:regular r:id="rId201324"/>
    </p:embeddedFont>
    <p:embeddedFont>
      <p:font typeface="Open Sans Medium"/>
      <p:regular r:id="rId201325"/>
    </p:embeddedFont>
    <p:embeddedFont>
      <p:font typeface="Open Sans SemiBold"/>
      <p:regular r:id="rId201326"/>
    </p:embeddedFont>
    <p:embeddedFont>
      <p:font typeface="Open Sans ExtraBold"/>
      <p:regular r:id="rId2013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image" Target="../media/image-3-2.png"/><Relationship Id="rId9" Type="http://schemas.openxmlformats.org/officeDocument/2006/relationships/image" Target="../media/image-3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image" Target="../media/image-8-4.jpeg"/><Relationship Id="rId5" Type="http://schemas.openxmlformats.org/officeDocument/2006/relationships/image" Target="../media/image-8-5.jpe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image" Target="../media/image-9-1.png"/><Relationship Id="rId8" Type="http://schemas.openxmlformats.org/officeDocument/2006/relationships/image" Target="../media/image-9-2.svg"/><Relationship Id="rId9" Type="http://schemas.openxmlformats.org/officeDocument/2006/relationships/image" Target="../media/image-9-1.png"/><Relationship Id="rId10" Type="http://schemas.openxmlformats.org/officeDocument/2006/relationships/image" Target="../media/image-9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2164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Customer Satisfaction Classification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20219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Feedback Analysis &amp; Natural Language Processing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206502"/>
            <a:ext cx="849064" cy="215354"/>
          </a:xfrm>
          <a:prstGeom prst="roundRect">
            <a:avLst>
              <a:gd name="adj" fmla="val 22119"/>
            </a:avLst>
          </a:prstGeom>
          <a:solidFill>
            <a:srgbClr val="EBE2E0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3248992"/>
            <a:ext cx="113615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AI-POWERED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845025" y="3206502"/>
            <a:ext cx="2225278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835E5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30080" y="3248992"/>
            <a:ext cx="251236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835E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NLP · MACHINE LEARNING · ANALYTICS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12626"/>
            <a:ext cx="4722763" cy="719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Why Customer Feedback Analysis Matters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496119" y="1272853"/>
            <a:ext cx="4722763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 today's competitive landscape, customer feedback is the most direct signal of product quality, service gaps, and brand perception. Organizations that act on feedback systematically retain customers longer and grow faster.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96119" y="1879029"/>
            <a:ext cx="4722763" cy="642789"/>
          </a:xfrm>
          <a:prstGeom prst="roundRect">
            <a:avLst>
              <a:gd name="adj" fmla="val 7526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6000" y="1998911"/>
            <a:ext cx="4483001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Product Quality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16000" y="2234952"/>
            <a:ext cx="4483001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 recurring defects and feature requests directly from user reviews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96119" y="2615357"/>
            <a:ext cx="4722763" cy="642789"/>
          </a:xfrm>
          <a:prstGeom prst="roundRect">
            <a:avLst>
              <a:gd name="adj" fmla="val 7526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6000" y="2735238"/>
            <a:ext cx="4483001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Service Improvement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16000" y="2971279"/>
            <a:ext cx="4483001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Pinpoint service failures before they escalate to churn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96119" y="3351684"/>
            <a:ext cx="4722763" cy="642789"/>
          </a:xfrm>
          <a:prstGeom prst="roundRect">
            <a:avLst>
              <a:gd name="adj" fmla="val 7526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6000" y="3471565"/>
            <a:ext cx="4483001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Brand Reputation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6000" y="3707606"/>
            <a:ext cx="4483001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 sentiment across social media, reviews, and support channels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96119" y="4088011"/>
            <a:ext cx="4722763" cy="642789"/>
          </a:xfrm>
          <a:prstGeom prst="roundRect">
            <a:avLst>
              <a:gd name="adj" fmla="val 7526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6000" y="4207892"/>
            <a:ext cx="4483001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Customer Retention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16000" y="4443933"/>
            <a:ext cx="4483001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Proactively address negative experiences to reduce attrition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4469"/>
            <a:ext cx="815176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The Challenge of Manual Feedback Analysis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60078"/>
            <a:ext cx="5217319" cy="29564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50521" y="2083519"/>
            <a:ext cx="2702049" cy="509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Modern enterprises collect feedback across dozens of channels — reviews, surveys, social media, emails, chat logs, and support tickets. Manual processing is simply not scalable.</a:t>
            </a:r>
            <a:endParaRPr lang="en-US" sz="7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960465"/>
            <a:ext cx="1989906" cy="7884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2806" y="4070003"/>
            <a:ext cx="171368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Inconsistent Interpretation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62806" y="4257229"/>
            <a:ext cx="1713681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Human analysts apply subjective judgment, producing unreliable classifications</a:t>
            </a:r>
            <a:endParaRPr lang="en-US" sz="7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50021" y="3960465"/>
            <a:ext cx="1989981" cy="78849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716709" y="4070003"/>
            <a:ext cx="1713756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Delayed Decision-Making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2716709" y="4257229"/>
            <a:ext cx="1713756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Manual review cycles take days or weeks, missing real-time opportunities</a:t>
            </a:r>
            <a:endParaRPr lang="en-US" sz="7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03998" y="3960465"/>
            <a:ext cx="1989906" cy="78849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770686" y="4070003"/>
            <a:ext cx="171368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Volume Overload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4770686" y="4257229"/>
            <a:ext cx="1713681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Thousands of daily reviews cannot be processed by human teams alone</a:t>
            </a:r>
            <a:endParaRPr lang="en-US" sz="7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57901" y="3960465"/>
            <a:ext cx="1989981" cy="78849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824588" y="4070003"/>
            <a:ext cx="1713756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Blind Spots</a:t>
            </a:r>
            <a:endParaRPr lang="en-US" sz="900" dirty="0"/>
          </a:p>
        </p:txBody>
      </p:sp>
      <p:sp>
        <p:nvSpPr>
          <p:cNvPr id="16" name="Text 9"/>
          <p:cNvSpPr/>
          <p:nvPr/>
        </p:nvSpPr>
        <p:spPr>
          <a:xfrm>
            <a:off x="6824588" y="4257229"/>
            <a:ext cx="1713756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Emerging concerns go undetected until they become critical issues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Proposed Solution: Intelligent Feedback Classification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8215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end-to-end NLP platform that automatically collects, processes, and classifies customer feedback — delivering real-time satisfaction scores and actionable insights across every channel.</a:t>
            </a:r>
            <a:endParaRPr lang="en-US" sz="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757" y="807021"/>
            <a:ext cx="7272486" cy="39740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94731" y="2669080"/>
            <a:ext cx="168510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Collect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149912" y="2643224"/>
            <a:ext cx="168510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Preprocess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071232" y="2651503"/>
            <a:ext cx="168510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Analyze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820841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system operates autonomously at scale, processing thousands of feedback items per minute with consistent, bias-free classification accuracy.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System Architecture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2613868"/>
            <a:ext cx="398941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layered, cloud-native architecture ensures separation of concerns, horizontal scalability, and fault tolerance across all components.</a:t>
            </a:r>
            <a:endParaRPr lang="en-US" sz="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232" y="704255"/>
            <a:ext cx="3989412" cy="39894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4773290"/>
            <a:ext cx="141759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550" dirty="0"/>
          </a:p>
        </p:txBody>
      </p:sp>
      <p:sp>
        <p:nvSpPr>
          <p:cNvPr id="6" name="Shape 3"/>
          <p:cNvSpPr/>
          <p:nvPr/>
        </p:nvSpPr>
        <p:spPr>
          <a:xfrm>
            <a:off x="496119" y="4884167"/>
            <a:ext cx="4058171" cy="9525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7" name="Text 4"/>
          <p:cNvSpPr/>
          <p:nvPr/>
        </p:nvSpPr>
        <p:spPr>
          <a:xfrm>
            <a:off x="496119" y="4938638"/>
            <a:ext cx="405817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Presentation Layer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496119" y="5070574"/>
            <a:ext cx="40581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React/Angular dashboard, mobile apps, REST API gateway</a:t>
            </a:r>
            <a:endParaRPr lang="en-US" sz="550" dirty="0"/>
          </a:p>
        </p:txBody>
      </p:sp>
      <p:sp>
        <p:nvSpPr>
          <p:cNvPr id="9" name="Text 6"/>
          <p:cNvSpPr/>
          <p:nvPr/>
        </p:nvSpPr>
        <p:spPr>
          <a:xfrm>
            <a:off x="4589711" y="4773290"/>
            <a:ext cx="141759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550" dirty="0"/>
          </a:p>
        </p:txBody>
      </p:sp>
      <p:sp>
        <p:nvSpPr>
          <p:cNvPr id="10" name="Shape 7"/>
          <p:cNvSpPr/>
          <p:nvPr/>
        </p:nvSpPr>
        <p:spPr>
          <a:xfrm>
            <a:off x="4589711" y="4884167"/>
            <a:ext cx="4058171" cy="9525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11" name="Text 8"/>
          <p:cNvSpPr/>
          <p:nvPr/>
        </p:nvSpPr>
        <p:spPr>
          <a:xfrm>
            <a:off x="4589711" y="4938638"/>
            <a:ext cx="405817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Application &amp; Business Logic Layer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4589711" y="5070574"/>
            <a:ext cx="40581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Microservices for auth, feedback ingestion, reporting, notifications</a:t>
            </a:r>
            <a:endParaRPr lang="en-US" sz="550" dirty="0"/>
          </a:p>
        </p:txBody>
      </p:sp>
      <p:sp>
        <p:nvSpPr>
          <p:cNvPr id="13" name="Text 10"/>
          <p:cNvSpPr/>
          <p:nvPr/>
        </p:nvSpPr>
        <p:spPr>
          <a:xfrm>
            <a:off x="496119" y="5244182"/>
            <a:ext cx="141759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550" dirty="0"/>
          </a:p>
        </p:txBody>
      </p:sp>
      <p:sp>
        <p:nvSpPr>
          <p:cNvPr id="14" name="Shape 11"/>
          <p:cNvSpPr/>
          <p:nvPr/>
        </p:nvSpPr>
        <p:spPr>
          <a:xfrm>
            <a:off x="496119" y="5355059"/>
            <a:ext cx="4058171" cy="9525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15" name="Text 12"/>
          <p:cNvSpPr/>
          <p:nvPr/>
        </p:nvSpPr>
        <p:spPr>
          <a:xfrm>
            <a:off x="496119" y="5409530"/>
            <a:ext cx="405817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NLP &amp; ML Inference Layer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496119" y="5541466"/>
            <a:ext cx="40581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Preprocessing engine, sentiment model, classification service, confidence scorer</a:t>
            </a:r>
            <a:endParaRPr lang="en-US" sz="550" dirty="0"/>
          </a:p>
        </p:txBody>
      </p:sp>
      <p:sp>
        <p:nvSpPr>
          <p:cNvPr id="17" name="Text 14"/>
          <p:cNvSpPr/>
          <p:nvPr/>
        </p:nvSpPr>
        <p:spPr>
          <a:xfrm>
            <a:off x="4589711" y="5244182"/>
            <a:ext cx="141759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550" dirty="0"/>
          </a:p>
        </p:txBody>
      </p:sp>
      <p:sp>
        <p:nvSpPr>
          <p:cNvPr id="18" name="Shape 15"/>
          <p:cNvSpPr/>
          <p:nvPr/>
        </p:nvSpPr>
        <p:spPr>
          <a:xfrm>
            <a:off x="4589711" y="5355059"/>
            <a:ext cx="4058171" cy="9525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19" name="Text 16"/>
          <p:cNvSpPr/>
          <p:nvPr/>
        </p:nvSpPr>
        <p:spPr>
          <a:xfrm>
            <a:off x="4589711" y="5409530"/>
            <a:ext cx="405817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Database &amp; Cloud Infrastructure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4589711" y="5541466"/>
            <a:ext cx="40581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PostgreSQL, Elasticsearch, Redis, Kafka, AWS/GCP/Azure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NLP Processing Pipeline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402756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Key NLP Techniques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554635"/>
            <a:ext cx="3986733" cy="495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Tokenization: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WordPiece, BPE for subword segmentation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Vectorization: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TF-IDF, Word2Vec, GloVe, BERT embeddings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Feature Selection: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Chi-square, mutual information, PCA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Sentiment Models: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VADER, TextBlob, transformer fine-tuning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Languages: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Multilingual BERT, XLM-RoBERTa support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01836"/>
            <a:ext cx="472276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Machine Learning Models &amp; Evaluation</a:t>
            </a:r>
            <a:endParaRPr lang="en-US" sz="1550" dirty="0"/>
          </a:p>
        </p:txBody>
      </p:sp>
      <p:sp>
        <p:nvSpPr>
          <p:cNvPr id="4" name="Shape 1"/>
          <p:cNvSpPr/>
          <p:nvPr/>
        </p:nvSpPr>
        <p:spPr>
          <a:xfrm>
            <a:off x="496119" y="718245"/>
            <a:ext cx="2338983" cy="519857"/>
          </a:xfrm>
          <a:prstGeom prst="roundRect">
            <a:avLst>
              <a:gd name="adj" fmla="val 6443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0579" y="802704"/>
            <a:ext cx="2170063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Classical ML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580579" y="954212"/>
            <a:ext cx="2170063" cy="199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Naïve Bayes, Logistic Regression, SVM, Random Forest, XGBoost — strong baselines for structured text features</a:t>
            </a:r>
            <a:endParaRPr lang="en-US" sz="600" dirty="0"/>
          </a:p>
        </p:txBody>
      </p:sp>
      <p:sp>
        <p:nvSpPr>
          <p:cNvPr id="7" name="Shape 4"/>
          <p:cNvSpPr/>
          <p:nvPr/>
        </p:nvSpPr>
        <p:spPr>
          <a:xfrm>
            <a:off x="2879899" y="718245"/>
            <a:ext cx="2338983" cy="519857"/>
          </a:xfrm>
          <a:prstGeom prst="roundRect">
            <a:avLst>
              <a:gd name="adj" fmla="val 6443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64359" y="802704"/>
            <a:ext cx="2170063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Deep Learning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2964359" y="954212"/>
            <a:ext cx="2170063" cy="199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RNN, LSTM, GRU networks capture sequential context and long-range dependencies in text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496119" y="1282898"/>
            <a:ext cx="4722763" cy="420142"/>
          </a:xfrm>
          <a:prstGeom prst="roundRect">
            <a:avLst>
              <a:gd name="adj" fmla="val 7972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0579" y="1367358"/>
            <a:ext cx="4553843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Transformers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580579" y="1518865"/>
            <a:ext cx="4553843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BERT, RoBERTa, DistilBERT deliver state-of-the-art accuracy via transfer learning and attention mechanisms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496119" y="1770311"/>
            <a:ext cx="4722763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Evaluation Metrics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96119" y="2002036"/>
            <a:ext cx="4722763" cy="263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94%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496119" y="2338611"/>
            <a:ext cx="4722763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Accuracy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496119" y="2490118"/>
            <a:ext cx="4722763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Overall classification accuracy on held-out test set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496119" y="2719313"/>
            <a:ext cx="4722763" cy="263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0.92</a:t>
            </a:r>
            <a:endParaRPr lang="en-US" sz="2050" dirty="0"/>
          </a:p>
        </p:txBody>
      </p:sp>
      <p:sp>
        <p:nvSpPr>
          <p:cNvPr id="18" name="Text 15"/>
          <p:cNvSpPr/>
          <p:nvPr/>
        </p:nvSpPr>
        <p:spPr>
          <a:xfrm>
            <a:off x="496119" y="3055888"/>
            <a:ext cx="4722763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F1-Score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96119" y="3207395"/>
            <a:ext cx="4722763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Harmonic mean of precision and recall across classes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496119" y="3436590"/>
            <a:ext cx="4722763" cy="263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0.96</a:t>
            </a:r>
            <a:endParaRPr lang="en-US" sz="2050" dirty="0"/>
          </a:p>
        </p:txBody>
      </p:sp>
      <p:sp>
        <p:nvSpPr>
          <p:cNvPr id="21" name="Text 18"/>
          <p:cNvSpPr/>
          <p:nvPr/>
        </p:nvSpPr>
        <p:spPr>
          <a:xfrm>
            <a:off x="496119" y="3773165"/>
            <a:ext cx="4722763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ROC-AUC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496119" y="3924672"/>
            <a:ext cx="4722763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Discrimination ability between positive and negative sentiment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496119" y="4153867"/>
            <a:ext cx="4722763" cy="263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&lt;50ms</a:t>
            </a:r>
            <a:endParaRPr lang="en-US" sz="2050" dirty="0"/>
          </a:p>
        </p:txBody>
      </p:sp>
      <p:sp>
        <p:nvSpPr>
          <p:cNvPr id="24" name="Text 21"/>
          <p:cNvSpPr/>
          <p:nvPr/>
        </p:nvSpPr>
        <p:spPr>
          <a:xfrm>
            <a:off x="496119" y="4490442"/>
            <a:ext cx="4722763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Latency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496119" y="4641949"/>
            <a:ext cx="4722763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End-to-end inference time per feedback item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797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Technology Stack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224483"/>
            <a:ext cx="838200" cy="5179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919660"/>
            <a:ext cx="19050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Frontend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226171"/>
            <a:ext cx="190500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React.js / Angular, D3.js, Chart.js, responsive PWA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298" y="1224483"/>
            <a:ext cx="838200" cy="5179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8298" y="1919660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Backend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78298" y="2226171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Python, FastAPI / Flask, Node.js, gRPC microservices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53" y="1224483"/>
            <a:ext cx="838200" cy="5179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0553" y="1919660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Data Layer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60553" y="2226171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PostgreSQL, Elasticsearch, Redis, Apache Kafka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807" y="1224483"/>
            <a:ext cx="838200" cy="5179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2807" y="1919660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NLP &amp; ML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42807" y="2226171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spaCy, NLTK, Hugging Face Transformers, TensorFlow, PyTorch, Scikit-learn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3190131"/>
            <a:ext cx="838200" cy="51799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6119" y="3885307"/>
            <a:ext cx="19050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Cloud &amp; DevOps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496119" y="4191819"/>
            <a:ext cx="190500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AWS / GCP / Azure, Docker, Kubernetes, CI/CD pipelines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2913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Real-World Applications &amp; Key Benefits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96119" y="1169640"/>
            <a:ext cx="391380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Industry Applications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96119" y="1501899"/>
            <a:ext cx="3913808" cy="2277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E-Commerce &amp; Retail:</a:t>
            </a:r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Product review sentiment, return reason analysis</a:t>
            </a:r>
            <a:endParaRPr lang="en-US" sz="1000" dirty="0"/>
          </a:p>
          <a:p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Healthcare:</a:t>
            </a:r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Patient satisfaction surveys, complaint triage</a:t>
            </a:r>
            <a:endParaRPr lang="en-US" sz="1000" dirty="0"/>
          </a:p>
          <a:p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Banking &amp; Finance:</a:t>
            </a:r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Branch experience feedback, digital banking NPS</a:t>
            </a:r>
            <a:endParaRPr lang="en-US" sz="1000" dirty="0"/>
          </a:p>
          <a:p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Hospitality &amp; Travel:</a:t>
            </a:r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Hotel and airline review monitoring</a:t>
            </a:r>
            <a:endParaRPr lang="en-US" sz="1000" dirty="0"/>
          </a:p>
          <a:p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EdTech &amp; SaaS:</a:t>
            </a:r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Course ratings, feature request prioritization</a:t>
            </a:r>
            <a:endParaRPr lang="en-US" sz="1000" dirty="0"/>
          </a:p>
          <a:p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Telecom:</a:t>
            </a:r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Network quality complaints, churn prediction signals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738836" y="1169640"/>
            <a:ext cx="391380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Core Advantages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88619" y="1524000"/>
            <a:ext cx="199355" cy="1993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70736" y="1517452"/>
            <a:ext cx="3481908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Automated analysis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eliminates manual review bottlenecks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88619" y="2185095"/>
            <a:ext cx="199355" cy="19935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70736" y="2178546"/>
            <a:ext cx="348190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Real-time insights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enable faster, data-driven decisions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88619" y="2839492"/>
            <a:ext cx="199355" cy="19935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170736" y="2832943"/>
            <a:ext cx="3481908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Centralized analytics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unify feedback across all channels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88619" y="3500586"/>
            <a:ext cx="199355" cy="19935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70736" y="3494038"/>
            <a:ext cx="3481908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Scalable deployment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handles millions of feedback items daily</a:t>
            </a:r>
            <a:endParaRPr lang="en-US" sz="10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88619" y="4161681"/>
            <a:ext cx="199355" cy="19935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170736" y="4155132"/>
            <a:ext cx="348190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Improved retention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through proactive issue resolution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32941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Challenges, Future Roadmap &amp; Conclusion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925119" y="1370781"/>
            <a:ext cx="2307134" cy="2137618"/>
          </a:xfrm>
          <a:prstGeom prst="roundRect">
            <a:avLst>
              <a:gd name="adj" fmla="val 2437"/>
            </a:avLst>
          </a:prstGeom>
          <a:solidFill>
            <a:srgbClr val="FFFCFA"/>
          </a:solidFill>
          <a:ln w="14288">
            <a:solidFill>
              <a:srgbClr val="D1C8C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63380" y="1509043"/>
            <a:ext cx="203061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Current Challenges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063380" y="1768004"/>
            <a:ext cx="2030611" cy="1602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Sarcasm, irony, and contextual sentiment detection</a:t>
            </a:r>
            <a:endParaRPr lang="en-US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Multilingual and code-mixed feedback processing</a:t>
            </a:r>
            <a:endParaRPr lang="en-US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 imbalance and domain adaptation</a:t>
            </a:r>
            <a:endParaRPr lang="en-US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 privacy and GDPR compliance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340748" y="1370781"/>
            <a:ext cx="2307134" cy="2137618"/>
          </a:xfrm>
          <a:prstGeom prst="roundRect">
            <a:avLst>
              <a:gd name="adj" fmla="val 2437"/>
            </a:avLst>
          </a:prstGeom>
          <a:solidFill>
            <a:srgbClr val="FFFCFA"/>
          </a:solidFill>
          <a:ln w="14288">
            <a:solidFill>
              <a:srgbClr val="D1C8C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79009" y="1509043"/>
            <a:ext cx="203061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Future Enhancements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79009" y="1768004"/>
            <a:ext cx="2030611" cy="1602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Aspect-based sentiment analysis and emotion detection</a:t>
            </a:r>
            <a:endParaRPr lang="en-US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Explainable AI (XAI) for transparent predictions</a:t>
            </a:r>
            <a:endParaRPr lang="en-US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Voice feedback analysis and chatbot integration</a:t>
            </a:r>
            <a:endParaRPr lang="en-US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Predictive churn modeling and CRM integration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925119" y="3616896"/>
            <a:ext cx="4722763" cy="1093589"/>
          </a:xfrm>
          <a:prstGeom prst="roundRect">
            <a:avLst>
              <a:gd name="adj" fmla="val 4764"/>
            </a:avLst>
          </a:prstGeom>
          <a:solidFill>
            <a:srgbClr val="FFFCFA"/>
          </a:solidFill>
          <a:ln w="14288">
            <a:solidFill>
              <a:srgbClr val="D1C8C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63380" y="3755157"/>
            <a:ext cx="444624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063380" y="4014118"/>
            <a:ext cx="4446240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system leverages NLP and ML to automatically classify customer satisfaction, turning unstructured feedback into a strategic asset — enabling faster decisions, better experiences, and measurable business growth.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2026-07-28T05:44:14Z</dcterms:created>
  <dcterms:modified xsi:type="dcterms:W3CDTF">2026-07-28T05:44:14Z</dcterms:modified>
</cp:coreProperties>
</file>